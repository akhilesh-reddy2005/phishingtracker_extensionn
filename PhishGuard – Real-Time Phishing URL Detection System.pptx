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K Modular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RQND Pro" charset="1" panose="00000500000000000000"/>
      <p:regular r:id="rId19"/>
    </p:embeddedFont>
    <p:embeddedFont>
      <p:font typeface="Cosmic Octo Medium" charset="1" panose="00000600000000000000"/>
      <p:regular r:id="rId20"/>
    </p:embeddedFont>
    <p:embeddedFont>
      <p:font typeface="Poppins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2" Target="../media/image3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jpe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4353" y="6745775"/>
            <a:ext cx="20076706" cy="4517259"/>
          </a:xfrm>
          <a:custGeom>
            <a:avLst/>
            <a:gdLst/>
            <a:ahLst/>
            <a:cxnLst/>
            <a:rect r="r" b="b" t="t" l="l"/>
            <a:pathLst>
              <a:path h="4517259" w="20076706">
                <a:moveTo>
                  <a:pt x="0" y="0"/>
                </a:moveTo>
                <a:lnTo>
                  <a:pt x="20076706" y="0"/>
                </a:lnTo>
                <a:lnTo>
                  <a:pt x="20076706" y="4517259"/>
                </a:lnTo>
                <a:lnTo>
                  <a:pt x="0" y="4517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304904" y="2463983"/>
            <a:ext cx="532335" cy="500395"/>
          </a:xfrm>
          <a:custGeom>
            <a:avLst/>
            <a:gdLst/>
            <a:ahLst/>
            <a:cxnLst/>
            <a:rect r="r" b="b" t="t" l="l"/>
            <a:pathLst>
              <a:path h="500395" w="532335">
                <a:moveTo>
                  <a:pt x="0" y="0"/>
                </a:moveTo>
                <a:lnTo>
                  <a:pt x="532335" y="0"/>
                </a:lnTo>
                <a:lnTo>
                  <a:pt x="532335" y="500394"/>
                </a:lnTo>
                <a:lnTo>
                  <a:pt x="0" y="500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6800" y="1028700"/>
            <a:ext cx="5637276" cy="8229600"/>
          </a:xfrm>
          <a:custGeom>
            <a:avLst/>
            <a:gdLst/>
            <a:ahLst/>
            <a:cxnLst/>
            <a:rect r="r" b="b" t="t" l="l"/>
            <a:pathLst>
              <a:path h="8229600" w="5637276">
                <a:moveTo>
                  <a:pt x="0" y="0"/>
                </a:moveTo>
                <a:lnTo>
                  <a:pt x="5637276" y="0"/>
                </a:lnTo>
                <a:lnTo>
                  <a:pt x="563727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52204" y="2891821"/>
            <a:ext cx="4055647" cy="4076027"/>
          </a:xfrm>
          <a:custGeom>
            <a:avLst/>
            <a:gdLst/>
            <a:ahLst/>
            <a:cxnLst/>
            <a:rect r="r" b="b" t="t" l="l"/>
            <a:pathLst>
              <a:path h="4076027" w="4055647">
                <a:moveTo>
                  <a:pt x="0" y="0"/>
                </a:moveTo>
                <a:lnTo>
                  <a:pt x="4055647" y="0"/>
                </a:lnTo>
                <a:lnTo>
                  <a:pt x="4055647" y="4076026"/>
                </a:lnTo>
                <a:lnTo>
                  <a:pt x="0" y="40760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69932" y="-1017864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05991" y="4668282"/>
            <a:ext cx="934304" cy="948605"/>
          </a:xfrm>
          <a:custGeom>
            <a:avLst/>
            <a:gdLst/>
            <a:ahLst/>
            <a:cxnLst/>
            <a:rect r="r" b="b" t="t" l="l"/>
            <a:pathLst>
              <a:path h="948605" w="934304">
                <a:moveTo>
                  <a:pt x="0" y="0"/>
                </a:moveTo>
                <a:lnTo>
                  <a:pt x="934304" y="0"/>
                </a:lnTo>
                <a:lnTo>
                  <a:pt x="934304" y="948605"/>
                </a:lnTo>
                <a:lnTo>
                  <a:pt x="0" y="9486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49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304904" y="3332703"/>
            <a:ext cx="4993531" cy="93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32"/>
              </a:lnSpc>
              <a:spcBef>
                <a:spcPct val="0"/>
              </a:spcBef>
            </a:pPr>
            <a:r>
              <a:rPr lang="en-US" b="true" sz="5523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PHISHING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04904" y="4932798"/>
            <a:ext cx="8708680" cy="94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32"/>
              </a:lnSpc>
              <a:spcBef>
                <a:spcPct val="0"/>
              </a:spcBef>
            </a:pPr>
            <a:r>
              <a:rPr lang="en-US" b="true" sz="5523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TRACKER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39251" y="7050739"/>
            <a:ext cx="6954270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 Shield Against Online Threats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712848" y="585684"/>
            <a:ext cx="596541" cy="505100"/>
          </a:xfrm>
          <a:custGeom>
            <a:avLst/>
            <a:gdLst/>
            <a:ahLst/>
            <a:cxnLst/>
            <a:rect r="r" b="b" t="t" l="l"/>
            <a:pathLst>
              <a:path h="505100" w="596541">
                <a:moveTo>
                  <a:pt x="0" y="0"/>
                </a:moveTo>
                <a:lnTo>
                  <a:pt x="596541" y="0"/>
                </a:lnTo>
                <a:lnTo>
                  <a:pt x="596541" y="505100"/>
                </a:lnTo>
                <a:lnTo>
                  <a:pt x="0" y="50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82522" y="1268459"/>
            <a:ext cx="2256381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487C9"/>
                </a:solidFill>
                <a:latin typeface="RQND Pro"/>
                <a:ea typeface="RQND Pro"/>
                <a:cs typeface="RQND Pro"/>
                <a:sym typeface="RQND Pro"/>
              </a:rPr>
              <a:t>PHISHING TRACKER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37976" y="2006570"/>
            <a:ext cx="12477808" cy="56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89"/>
              </a:lnSpc>
              <a:spcBef>
                <a:spcPct val="0"/>
              </a:spcBef>
            </a:pPr>
            <a:r>
              <a:rPr lang="en-US" b="true" sz="3278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THE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85801" y="2980316"/>
            <a:ext cx="9382158" cy="114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89"/>
              </a:lnSpc>
              <a:spcBef>
                <a:spcPct val="0"/>
              </a:spcBef>
            </a:pPr>
            <a:r>
              <a:rPr lang="en-US" b="true" sz="3278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1 IN 3 PEOPLE FALL FOR PHISHING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60853" y="4522069"/>
            <a:ext cx="12099720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Phishing attacks are escalating at an alarming rate, putting millions at risk every day. Consider these shocking statistics:</a:t>
            </a: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3.4 billion phishing emails are sent daily worldwide</a:t>
            </a: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$17,700 is lost every minute to phishing scams</a:t>
            </a: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Users struggle to distinguish fake websites from legitimate ones</a:t>
            </a: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91% of cyberattacks begin with a phishing email</a:t>
            </a: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threat is real, growing, and affects everyone online.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9571" y="8580355"/>
            <a:ext cx="1022283" cy="27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2"/>
              </a:lnSpc>
              <a:spcBef>
                <a:spcPct val="0"/>
              </a:spcBef>
            </a:pPr>
            <a:r>
              <a:rPr lang="en-US" b="true" sz="1630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160596" y="-1678048"/>
            <a:ext cx="4066328" cy="6046584"/>
          </a:xfrm>
          <a:custGeom>
            <a:avLst/>
            <a:gdLst/>
            <a:ahLst/>
            <a:cxnLst/>
            <a:rect r="r" b="b" t="t" l="l"/>
            <a:pathLst>
              <a:path h="6046584" w="4066328">
                <a:moveTo>
                  <a:pt x="0" y="0"/>
                </a:moveTo>
                <a:lnTo>
                  <a:pt x="4066328" y="0"/>
                </a:lnTo>
                <a:lnTo>
                  <a:pt x="4066328" y="6046584"/>
                </a:lnTo>
                <a:lnTo>
                  <a:pt x="0" y="6046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218244" y="6544011"/>
            <a:ext cx="4059810" cy="4734473"/>
          </a:xfrm>
          <a:custGeom>
            <a:avLst/>
            <a:gdLst/>
            <a:ahLst/>
            <a:cxnLst/>
            <a:rect r="r" b="b" t="t" l="l"/>
            <a:pathLst>
              <a:path h="4734473" w="4059810">
                <a:moveTo>
                  <a:pt x="0" y="0"/>
                </a:moveTo>
                <a:lnTo>
                  <a:pt x="4059811" y="0"/>
                </a:lnTo>
                <a:lnTo>
                  <a:pt x="4059811" y="4734473"/>
                </a:lnTo>
                <a:lnTo>
                  <a:pt x="0" y="47344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4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258356" y="3331756"/>
            <a:ext cx="15194133" cy="5621902"/>
            <a:chOff x="0" y="0"/>
            <a:chExt cx="4001747" cy="14806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779782" y="624214"/>
            <a:ext cx="461384" cy="591727"/>
          </a:xfrm>
          <a:custGeom>
            <a:avLst/>
            <a:gdLst/>
            <a:ahLst/>
            <a:cxnLst/>
            <a:rect r="r" b="b" t="t" l="l"/>
            <a:pathLst>
              <a:path h="591727" w="461384">
                <a:moveTo>
                  <a:pt x="0" y="0"/>
                </a:moveTo>
                <a:lnTo>
                  <a:pt x="461385" y="0"/>
                </a:lnTo>
                <a:lnTo>
                  <a:pt x="461385" y="591728"/>
                </a:lnTo>
                <a:lnTo>
                  <a:pt x="0" y="591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24060" y="2653918"/>
            <a:ext cx="5579918" cy="557991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969829" y="3099687"/>
            <a:ext cx="4688380" cy="4688380"/>
            <a:chOff x="0" y="0"/>
            <a:chExt cx="14840029" cy="14840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C4459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223" t="0" r="223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882522" y="1239884"/>
            <a:ext cx="2256381" cy="41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E487C9"/>
                </a:solidFill>
                <a:latin typeface="RQND Pro"/>
                <a:ea typeface="RQND Pro"/>
                <a:cs typeface="RQND Pro"/>
                <a:sym typeface="RQND Pro"/>
              </a:rPr>
              <a:t>PHISHING TRACKER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91747" y="3560588"/>
            <a:ext cx="9315032" cy="123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13"/>
              </a:lnSpc>
              <a:spcBef>
                <a:spcPct val="0"/>
              </a:spcBef>
            </a:pPr>
            <a:r>
              <a:rPr lang="en-US" b="true" sz="7223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OUR SOLUTION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91747" y="4645290"/>
            <a:ext cx="7730706" cy="123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13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7691747" y="6072501"/>
            <a:ext cx="9315032" cy="239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7"/>
              </a:lnSpc>
              <a:spcBef>
                <a:spcPct val="0"/>
              </a:spcBef>
            </a:pPr>
            <a:r>
              <a:rPr lang="en-US" sz="22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AI-powered phishing detection — right in your browser. Our Chrome extension works silently in the background, analyzing every website you visit and alerting you instantly when threats are detected. A red danger banner overlays suspicious sites, keeping you protected without disrupting your browsing experience.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15474" y="1134963"/>
            <a:ext cx="1022283" cy="55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6"/>
              </a:lnSpc>
              <a:spcBef>
                <a:spcPct val="0"/>
              </a:spcBef>
            </a:pPr>
            <a:r>
              <a:rPr lang="en-US" b="true" sz="3225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03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-1728019" y="-1153953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830834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744692" y="578122"/>
            <a:ext cx="532639" cy="669538"/>
          </a:xfrm>
          <a:custGeom>
            <a:avLst/>
            <a:gdLst/>
            <a:ahLst/>
            <a:cxnLst/>
            <a:rect r="r" b="b" t="t" l="l"/>
            <a:pathLst>
              <a:path h="669538" w="532639">
                <a:moveTo>
                  <a:pt x="0" y="0"/>
                </a:moveTo>
                <a:lnTo>
                  <a:pt x="532639" y="0"/>
                </a:lnTo>
                <a:lnTo>
                  <a:pt x="532639" y="669538"/>
                </a:lnTo>
                <a:lnTo>
                  <a:pt x="0" y="669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2749605" y="3598206"/>
            <a:ext cx="4737224" cy="5152812"/>
            <a:chOff x="0" y="0"/>
            <a:chExt cx="1361246" cy="14806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1246" cy="1480665"/>
            </a:xfrm>
            <a:custGeom>
              <a:avLst/>
              <a:gdLst/>
              <a:ahLst/>
              <a:cxnLst/>
              <a:rect r="r" b="b" t="t" l="l"/>
              <a:pathLst>
                <a:path h="1480665" w="1361246">
                  <a:moveTo>
                    <a:pt x="47394" y="0"/>
                  </a:moveTo>
                  <a:lnTo>
                    <a:pt x="1313852" y="0"/>
                  </a:lnTo>
                  <a:cubicBezTo>
                    <a:pt x="1340027" y="0"/>
                    <a:pt x="1361246" y="21219"/>
                    <a:pt x="1361246" y="47394"/>
                  </a:cubicBezTo>
                  <a:lnTo>
                    <a:pt x="1361246" y="1433272"/>
                  </a:lnTo>
                  <a:cubicBezTo>
                    <a:pt x="1361246" y="1445841"/>
                    <a:pt x="1356252" y="1457896"/>
                    <a:pt x="1347364" y="1466784"/>
                  </a:cubicBezTo>
                  <a:cubicBezTo>
                    <a:pt x="1338476" y="1475672"/>
                    <a:pt x="1326422" y="1480665"/>
                    <a:pt x="1313852" y="1480665"/>
                  </a:cubicBezTo>
                  <a:lnTo>
                    <a:pt x="47394" y="1480665"/>
                  </a:lnTo>
                  <a:cubicBezTo>
                    <a:pt x="21219" y="1480665"/>
                    <a:pt x="0" y="1459446"/>
                    <a:pt x="0" y="1433272"/>
                  </a:cubicBezTo>
                  <a:lnTo>
                    <a:pt x="0" y="47394"/>
                  </a:lnTo>
                  <a:cubicBezTo>
                    <a:pt x="0" y="21219"/>
                    <a:pt x="21219" y="0"/>
                    <a:pt x="473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61246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6744604" y="4323802"/>
            <a:ext cx="4306244" cy="5152812"/>
            <a:chOff x="0" y="0"/>
            <a:chExt cx="1237403" cy="14806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7403" cy="1480665"/>
            </a:xfrm>
            <a:custGeom>
              <a:avLst/>
              <a:gdLst/>
              <a:ahLst/>
              <a:cxnLst/>
              <a:rect r="r" b="b" t="t" l="l"/>
              <a:pathLst>
                <a:path h="1480665" w="1237403">
                  <a:moveTo>
                    <a:pt x="52137" y="0"/>
                  </a:moveTo>
                  <a:lnTo>
                    <a:pt x="1185266" y="0"/>
                  </a:lnTo>
                  <a:cubicBezTo>
                    <a:pt x="1199094" y="0"/>
                    <a:pt x="1212355" y="5493"/>
                    <a:pt x="1222133" y="15271"/>
                  </a:cubicBezTo>
                  <a:cubicBezTo>
                    <a:pt x="1231910" y="25048"/>
                    <a:pt x="1237403" y="38310"/>
                    <a:pt x="1237403" y="52137"/>
                  </a:cubicBezTo>
                  <a:lnTo>
                    <a:pt x="1237403" y="1428528"/>
                  </a:lnTo>
                  <a:cubicBezTo>
                    <a:pt x="1237403" y="1442356"/>
                    <a:pt x="1231910" y="1455617"/>
                    <a:pt x="1222133" y="1465395"/>
                  </a:cubicBezTo>
                  <a:cubicBezTo>
                    <a:pt x="1212355" y="1475172"/>
                    <a:pt x="1199094" y="1480665"/>
                    <a:pt x="1185266" y="1480665"/>
                  </a:cubicBezTo>
                  <a:lnTo>
                    <a:pt x="52137" y="1480665"/>
                  </a:lnTo>
                  <a:cubicBezTo>
                    <a:pt x="38310" y="1480665"/>
                    <a:pt x="25048" y="1475172"/>
                    <a:pt x="15271" y="1465395"/>
                  </a:cubicBezTo>
                  <a:cubicBezTo>
                    <a:pt x="5493" y="1455617"/>
                    <a:pt x="0" y="1442356"/>
                    <a:pt x="0" y="1428528"/>
                  </a:cubicBezTo>
                  <a:lnTo>
                    <a:pt x="0" y="52137"/>
                  </a:lnTo>
                  <a:cubicBezTo>
                    <a:pt x="0" y="38310"/>
                    <a:pt x="5493" y="25048"/>
                    <a:pt x="15271" y="15271"/>
                  </a:cubicBezTo>
                  <a:cubicBezTo>
                    <a:pt x="25048" y="5493"/>
                    <a:pt x="38310" y="0"/>
                    <a:pt x="521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37403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10883778" y="3464005"/>
            <a:ext cx="4306244" cy="5152812"/>
            <a:chOff x="0" y="0"/>
            <a:chExt cx="1237403" cy="148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37403" cy="1480665"/>
            </a:xfrm>
            <a:custGeom>
              <a:avLst/>
              <a:gdLst/>
              <a:ahLst/>
              <a:cxnLst/>
              <a:rect r="r" b="b" t="t" l="l"/>
              <a:pathLst>
                <a:path h="1480665" w="1237403">
                  <a:moveTo>
                    <a:pt x="52137" y="0"/>
                  </a:moveTo>
                  <a:lnTo>
                    <a:pt x="1185266" y="0"/>
                  </a:lnTo>
                  <a:cubicBezTo>
                    <a:pt x="1199094" y="0"/>
                    <a:pt x="1212355" y="5493"/>
                    <a:pt x="1222133" y="15271"/>
                  </a:cubicBezTo>
                  <a:cubicBezTo>
                    <a:pt x="1231910" y="25048"/>
                    <a:pt x="1237403" y="38310"/>
                    <a:pt x="1237403" y="52137"/>
                  </a:cubicBezTo>
                  <a:lnTo>
                    <a:pt x="1237403" y="1428528"/>
                  </a:lnTo>
                  <a:cubicBezTo>
                    <a:pt x="1237403" y="1442356"/>
                    <a:pt x="1231910" y="1455617"/>
                    <a:pt x="1222133" y="1465395"/>
                  </a:cubicBezTo>
                  <a:cubicBezTo>
                    <a:pt x="1212355" y="1475172"/>
                    <a:pt x="1199094" y="1480665"/>
                    <a:pt x="1185266" y="1480665"/>
                  </a:cubicBezTo>
                  <a:lnTo>
                    <a:pt x="52137" y="1480665"/>
                  </a:lnTo>
                  <a:cubicBezTo>
                    <a:pt x="38310" y="1480665"/>
                    <a:pt x="25048" y="1475172"/>
                    <a:pt x="15271" y="1465395"/>
                  </a:cubicBezTo>
                  <a:cubicBezTo>
                    <a:pt x="5493" y="1455617"/>
                    <a:pt x="0" y="1442356"/>
                    <a:pt x="0" y="1428528"/>
                  </a:cubicBezTo>
                  <a:lnTo>
                    <a:pt x="0" y="52137"/>
                  </a:lnTo>
                  <a:cubicBezTo>
                    <a:pt x="0" y="38310"/>
                    <a:pt x="5493" y="25048"/>
                    <a:pt x="15271" y="15271"/>
                  </a:cubicBezTo>
                  <a:cubicBezTo>
                    <a:pt x="25048" y="5493"/>
                    <a:pt x="38310" y="0"/>
                    <a:pt x="521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37403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512223" y="1287509"/>
            <a:ext cx="3879582" cy="1301774"/>
            <a:chOff x="0" y="0"/>
            <a:chExt cx="2119537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9537" cy="711200"/>
            </a:xfrm>
            <a:custGeom>
              <a:avLst/>
              <a:gdLst/>
              <a:ahLst/>
              <a:cxnLst/>
              <a:rect r="r" b="b" t="t" l="l"/>
              <a:pathLst>
                <a:path h="711200" w="2119537">
                  <a:moveTo>
                    <a:pt x="1814847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5871"/>
                  </a:cubicBezTo>
                  <a:cubicBezTo>
                    <a:pt x="0" y="386169"/>
                    <a:pt x="66279" y="481310"/>
                    <a:pt x="162037" y="525451"/>
                  </a:cubicBezTo>
                  <a:lnTo>
                    <a:pt x="162037" y="711200"/>
                  </a:lnTo>
                  <a:lnTo>
                    <a:pt x="353844" y="551732"/>
                  </a:lnTo>
                  <a:lnTo>
                    <a:pt x="1814847" y="551732"/>
                  </a:lnTo>
                  <a:cubicBezTo>
                    <a:pt x="1993099" y="551732"/>
                    <a:pt x="2119537" y="428220"/>
                    <a:pt x="2119537" y="275861"/>
                  </a:cubicBezTo>
                  <a:cubicBezTo>
                    <a:pt x="2119548" y="123512"/>
                    <a:pt x="1993099" y="0"/>
                    <a:pt x="18148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19537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65701" y="4137838"/>
            <a:ext cx="1143595" cy="114359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4F4F4">
                    <a:alpha val="100000"/>
                  </a:srgbClr>
                </a:gs>
                <a:gs pos="100000">
                  <a:srgbClr val="919191">
                    <a:alpha val="345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882522" y="1239884"/>
            <a:ext cx="2256381" cy="41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E487C9"/>
                </a:solidFill>
                <a:latin typeface="RQND Pro"/>
                <a:ea typeface="RQND Pro"/>
                <a:cs typeface="RQND Pro"/>
                <a:sym typeface="RQND Pro"/>
              </a:rPr>
              <a:t>PHISHING TRACKER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477522"/>
            <a:ext cx="5208013" cy="58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22"/>
              </a:lnSpc>
            </a:pPr>
            <a:r>
              <a:rPr lang="en-US" b="true" sz="3865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HOW IT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28303" y="1523588"/>
            <a:ext cx="2840526" cy="56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WORKS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2191796"/>
            <a:ext cx="5208013" cy="58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22"/>
              </a:lnSpc>
            </a:pPr>
            <a:r>
              <a:rPr lang="en-US" b="true" sz="3865">
                <a:solidFill>
                  <a:srgbClr val="FFEBE3"/>
                </a:solidFill>
                <a:latin typeface="HK Modular"/>
                <a:ea typeface="HK Modular"/>
                <a:cs typeface="HK Modular"/>
                <a:sym typeface="HK Modular"/>
              </a:rPr>
              <a:t>ARCHITECTURE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042890" y="3868018"/>
            <a:ext cx="1143595" cy="114359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4F4F4">
                    <a:alpha val="100000"/>
                  </a:srgbClr>
                </a:gs>
                <a:gs pos="100000">
                  <a:srgbClr val="919191">
                    <a:alpha val="515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479050" y="4137838"/>
            <a:ext cx="1143595" cy="114359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4F4F4">
                    <a:alpha val="100000"/>
                  </a:srgbClr>
                </a:gs>
                <a:gs pos="100000">
                  <a:srgbClr val="919191">
                    <a:alpha val="345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474584" y="4160008"/>
            <a:ext cx="925828" cy="70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6"/>
              </a:lnSpc>
              <a:spcBef>
                <a:spcPct val="0"/>
              </a:spcBef>
            </a:pPr>
            <a:r>
              <a:rPr lang="en-US" sz="4133">
                <a:solidFill>
                  <a:srgbClr val="3D042D"/>
                </a:solidFill>
                <a:latin typeface="RQND Pro"/>
                <a:ea typeface="RQND Pro"/>
                <a:cs typeface="RQND Pro"/>
                <a:sym typeface="RQND Pro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51774" y="3909591"/>
            <a:ext cx="925828" cy="70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6"/>
              </a:lnSpc>
              <a:spcBef>
                <a:spcPct val="0"/>
              </a:spcBef>
            </a:pPr>
            <a:r>
              <a:rPr lang="en-US" sz="4133">
                <a:solidFill>
                  <a:srgbClr val="3D042D"/>
                </a:solidFill>
                <a:latin typeface="RQND Pro"/>
                <a:ea typeface="RQND Pro"/>
                <a:cs typeface="RQND Pro"/>
                <a:sym typeface="RQND Pro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87934" y="4160008"/>
            <a:ext cx="925828" cy="70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6"/>
              </a:lnSpc>
              <a:spcBef>
                <a:spcPct val="0"/>
              </a:spcBef>
            </a:pPr>
            <a:r>
              <a:rPr lang="en-US" sz="4133">
                <a:solidFill>
                  <a:srgbClr val="3D042D"/>
                </a:solidFill>
                <a:latin typeface="RQND Pro"/>
                <a:ea typeface="RQND Pro"/>
                <a:cs typeface="RQND Pro"/>
                <a:sym typeface="RQND Pro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688049" y="4365371"/>
            <a:ext cx="2309174" cy="77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9"/>
              </a:lnSpc>
            </a:pPr>
            <a:r>
              <a:rPr lang="en-US" b="true" sz="25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Website Visit &amp; Detection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58242" y="5262283"/>
            <a:ext cx="2309174" cy="77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49"/>
              </a:lnSpc>
            </a:pPr>
            <a:r>
              <a:rPr lang="en-US" b="true" sz="25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Concurrent Analysis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022695" y="4226683"/>
            <a:ext cx="2309174" cy="77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9"/>
              </a:lnSpc>
            </a:pPr>
            <a:r>
              <a:rPr lang="en-US" b="true" sz="25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Score &amp; Alert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369521" y="8871298"/>
            <a:ext cx="1022283" cy="49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2"/>
              </a:lnSpc>
              <a:spcBef>
                <a:spcPct val="0"/>
              </a:spcBef>
            </a:pPr>
            <a:r>
              <a:rPr lang="en-US" b="true" sz="2873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632706" y="5421304"/>
            <a:ext cx="2704915" cy="270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2"/>
              </a:lnSpc>
              <a:spcBef>
                <a:spcPct val="0"/>
              </a:spcBef>
            </a:pPr>
            <a:r>
              <a:rPr lang="en-US" sz="19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visits any website → Background Service Worker activates instantly → Captures URL and page metadata for analysis.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58242" y="6323258"/>
            <a:ext cx="2880661" cy="270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2"/>
              </a:lnSpc>
              <a:spcBef>
                <a:spcPct val="0"/>
              </a:spcBef>
            </a:pPr>
            <a:r>
              <a:rPr lang="en-US" sz="19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Two parallel checks run simultaneously: Google Safe Browsing API queries real threat database + 9-rule heuristic engine analyzes URL patterns locally.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74772" y="5233809"/>
            <a:ext cx="2880661" cy="2368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2"/>
              </a:lnSpc>
              <a:spcBef>
                <a:spcPct val="0"/>
              </a:spcBef>
            </a:pPr>
            <a:r>
              <a:rPr lang="en-US" sz="19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Results combine into a unified risk score (0-100) → Color-coded alert banner displays instantly: Green (Safe), Orange (Suspicious), or Red (Dangerous).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783564" y="4383637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00950" y="4383637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744545" y="653249"/>
            <a:ext cx="532335" cy="500395"/>
          </a:xfrm>
          <a:custGeom>
            <a:avLst/>
            <a:gdLst/>
            <a:ahLst/>
            <a:cxnLst/>
            <a:rect r="r" b="b" t="t" l="l"/>
            <a:pathLst>
              <a:path h="500395" w="532335">
                <a:moveTo>
                  <a:pt x="0" y="0"/>
                </a:moveTo>
                <a:lnTo>
                  <a:pt x="532335" y="0"/>
                </a:lnTo>
                <a:lnTo>
                  <a:pt x="532335" y="500395"/>
                </a:lnTo>
                <a:lnTo>
                  <a:pt x="0" y="5003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3030107" y="4630180"/>
            <a:ext cx="2593015" cy="2593015"/>
            <a:chOff x="0" y="0"/>
            <a:chExt cx="14840029" cy="14840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C4459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223" t="0" r="223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7847493" y="4630180"/>
            <a:ext cx="2593015" cy="2593015"/>
            <a:chOff x="0" y="0"/>
            <a:chExt cx="14840029" cy="148400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C4459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223" t="0" r="223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668250" y="4383637"/>
            <a:ext cx="3086100" cy="308610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914793" y="4630180"/>
            <a:ext cx="2593015" cy="2593015"/>
            <a:chOff x="0" y="0"/>
            <a:chExt cx="14840029" cy="148400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C4459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223" t="0" r="223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5044440" y="1709800"/>
            <a:ext cx="9315032" cy="137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02"/>
              </a:lnSpc>
              <a:spcBef>
                <a:spcPct val="0"/>
              </a:spcBef>
            </a:pPr>
            <a:r>
              <a:rPr lang="en-US" b="true" sz="7930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TECH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88014" y="2794502"/>
            <a:ext cx="7730706" cy="137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02"/>
              </a:lnSpc>
              <a:spcBef>
                <a:spcPct val="0"/>
              </a:spcBef>
            </a:pPr>
            <a:r>
              <a:rPr lang="en-US" b="true" sz="7930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STACK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82522" y="1239884"/>
            <a:ext cx="2256381" cy="41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E487C9"/>
                </a:solidFill>
                <a:latin typeface="RQND Pro"/>
                <a:ea typeface="RQND Pro"/>
                <a:cs typeface="RQND Pro"/>
                <a:sym typeface="RQND Pro"/>
              </a:rPr>
              <a:t>PHISHING TRACKER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87994" y="7657362"/>
            <a:ext cx="3081670" cy="45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18"/>
              </a:lnSpc>
              <a:spcBef>
                <a:spcPct val="0"/>
              </a:spcBef>
            </a:pPr>
            <a:r>
              <a:rPr lang="en-US" b="true" sz="2584">
                <a:solidFill>
                  <a:srgbClr val="E487C9"/>
                </a:solidFill>
                <a:latin typeface="Poppins Bold"/>
                <a:ea typeface="Poppins Bold"/>
                <a:cs typeface="Poppins Bold"/>
                <a:sym typeface="Poppins Bold"/>
              </a:rPr>
              <a:t>TypeScript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62204" y="8277122"/>
            <a:ext cx="3933250" cy="89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0"/>
              </a:lnSpc>
              <a:spcBef>
                <a:spcPct val="0"/>
              </a:spcBef>
            </a:pPr>
            <a:r>
              <a:rPr lang="en-US" sz="16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Type-safe development ensuring robust, maintainable code with compile-time error detection.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12532" y="7657362"/>
            <a:ext cx="3081670" cy="45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18"/>
              </a:lnSpc>
              <a:spcBef>
                <a:spcPct val="0"/>
              </a:spcBef>
            </a:pPr>
            <a:r>
              <a:rPr lang="en-US" b="true" sz="2584">
                <a:solidFill>
                  <a:srgbClr val="E487C9"/>
                </a:solidFill>
                <a:latin typeface="Poppins Bold"/>
                <a:ea typeface="Poppins Bold"/>
                <a:cs typeface="Poppins Bold"/>
                <a:sym typeface="Poppins Bold"/>
              </a:rPr>
              <a:t>Chrome MV3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286742" y="8277122"/>
            <a:ext cx="3933250" cy="89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0"/>
              </a:lnSpc>
              <a:spcBef>
                <a:spcPct val="0"/>
              </a:spcBef>
            </a:pPr>
            <a:r>
              <a:rPr lang="en-US" sz="16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Built on the latest Manifest V3 extension standard for enhanced security and performance.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07126" y="7657362"/>
            <a:ext cx="4408348" cy="45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18"/>
              </a:lnSpc>
              <a:spcBef>
                <a:spcPct val="0"/>
              </a:spcBef>
            </a:pPr>
            <a:r>
              <a:rPr lang="en-US" b="true" sz="2584">
                <a:solidFill>
                  <a:srgbClr val="E487C9"/>
                </a:solidFill>
                <a:latin typeface="Poppins Bold"/>
                <a:ea typeface="Poppins Bold"/>
                <a:cs typeface="Poppins Bold"/>
                <a:sym typeface="Poppins Bold"/>
              </a:rPr>
              <a:t>Google Safe Browsing API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44675" y="8277122"/>
            <a:ext cx="4170799" cy="89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0"/>
              </a:lnSpc>
              <a:spcBef>
                <a:spcPct val="0"/>
              </a:spcBef>
            </a:pPr>
            <a:r>
              <a:rPr lang="en-US" sz="16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Access to Google's real-time threat database containing millions of known phishing URLs.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415474" y="1134963"/>
            <a:ext cx="1022283" cy="60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7"/>
              </a:lnSpc>
              <a:spcBef>
                <a:spcPct val="0"/>
              </a:spcBef>
            </a:pPr>
            <a:r>
              <a:rPr lang="en-US" b="true" sz="3541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6" t="0" r="-306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320547" y="1538115"/>
            <a:ext cx="499046" cy="613878"/>
          </a:xfrm>
          <a:custGeom>
            <a:avLst/>
            <a:gdLst/>
            <a:ahLst/>
            <a:cxnLst/>
            <a:rect r="r" b="b" t="t" l="l"/>
            <a:pathLst>
              <a:path h="613878" w="499046">
                <a:moveTo>
                  <a:pt x="0" y="0"/>
                </a:moveTo>
                <a:lnTo>
                  <a:pt x="499046" y="0"/>
                </a:lnTo>
                <a:lnTo>
                  <a:pt x="499046" y="613878"/>
                </a:lnTo>
                <a:lnTo>
                  <a:pt x="0" y="613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741276" y="-719171"/>
            <a:ext cx="6437720" cy="11538709"/>
            <a:chOff x="0" y="0"/>
            <a:chExt cx="997371" cy="17876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7371" cy="1787648"/>
            </a:xfrm>
            <a:custGeom>
              <a:avLst/>
              <a:gdLst/>
              <a:ahLst/>
              <a:cxnLst/>
              <a:rect r="r" b="b" t="t" l="l"/>
              <a:pathLst>
                <a:path h="1787648" w="997371">
                  <a:moveTo>
                    <a:pt x="0" y="0"/>
                  </a:moveTo>
                  <a:lnTo>
                    <a:pt x="997371" y="0"/>
                  </a:lnTo>
                  <a:lnTo>
                    <a:pt x="997371" y="1787648"/>
                  </a:lnTo>
                  <a:lnTo>
                    <a:pt x="0" y="1787648"/>
                  </a:lnTo>
                  <a:close/>
                </a:path>
              </a:pathLst>
            </a:custGeom>
            <a:blipFill>
              <a:blip r:embed="rId4"/>
              <a:stretch>
                <a:fillRect l="-1082" t="0" r="-1082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836382" y="1614389"/>
            <a:ext cx="2256381" cy="29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9"/>
              </a:lnSpc>
              <a:spcBef>
                <a:spcPct val="0"/>
              </a:spcBef>
            </a:pPr>
            <a:r>
              <a:rPr lang="en-US" sz="1677">
                <a:solidFill>
                  <a:srgbClr val="E487C9"/>
                </a:solidFill>
                <a:latin typeface="RQND Pro"/>
                <a:ea typeface="RQND Pro"/>
                <a:cs typeface="RQND Pro"/>
                <a:sym typeface="RQND Pro"/>
              </a:rPr>
              <a:t>PHISHING TRACKER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80016" y="2622063"/>
            <a:ext cx="9082951" cy="94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1"/>
              </a:lnSpc>
              <a:spcBef>
                <a:spcPct val="0"/>
              </a:spcBef>
            </a:pPr>
            <a:r>
              <a:rPr lang="en-US" b="true" sz="5479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HEURISTIC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04047" y="3824319"/>
            <a:ext cx="7898640" cy="94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1"/>
              </a:lnSpc>
              <a:spcBef>
                <a:spcPct val="0"/>
              </a:spcBef>
            </a:pPr>
            <a:r>
              <a:rPr lang="en-US" b="true" sz="5479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ENGINE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04047" y="5631581"/>
            <a:ext cx="10530859" cy="315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3"/>
              </a:lnSpc>
              <a:spcBef>
                <a:spcPct val="0"/>
              </a:spcBef>
            </a:pPr>
            <a:r>
              <a:rPr lang="en-US" sz="17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 Smart Detection Rules — No Internet Needed</a:t>
            </a:r>
          </a:p>
          <a:p>
            <a:pPr algn="l" marL="387585" indent="-193793" lvl="1">
              <a:lnSpc>
                <a:spcPts val="2513"/>
              </a:lnSpc>
              <a:spcBef>
                <a:spcPct val="0"/>
              </a:spcBef>
              <a:buAutoNum type="arabicPeriod" startAt="1"/>
            </a:pPr>
            <a:r>
              <a:rPr lang="en-US" sz="17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IP address used as domain</a:t>
            </a:r>
          </a:p>
          <a:p>
            <a:pPr algn="l" marL="387585" indent="-193793" lvl="1">
              <a:lnSpc>
                <a:spcPts val="2513"/>
              </a:lnSpc>
              <a:spcBef>
                <a:spcPct val="0"/>
              </a:spcBef>
              <a:buAutoNum type="arabicPeriod" startAt="1"/>
            </a:pPr>
            <a:r>
              <a:rPr lang="en-US" sz="17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Brand name in subdomain (impersonation)</a:t>
            </a:r>
          </a:p>
          <a:p>
            <a:pPr algn="l" marL="387585" indent="-193793" lvl="1">
              <a:lnSpc>
                <a:spcPts val="2513"/>
              </a:lnSpc>
              <a:spcBef>
                <a:spcPct val="0"/>
              </a:spcBef>
              <a:buAutoNum type="arabicPeriod" startAt="1"/>
            </a:pPr>
            <a:r>
              <a:rPr lang="en-US" sz="17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Lookalike characters (e.g., paypa1.com)</a:t>
            </a:r>
          </a:p>
          <a:p>
            <a:pPr algn="l" marL="387585" indent="-193793" lvl="1">
              <a:lnSpc>
                <a:spcPts val="2513"/>
              </a:lnSpc>
              <a:spcBef>
                <a:spcPct val="0"/>
              </a:spcBef>
              <a:buAutoNum type="arabicPeriod" startAt="1"/>
            </a:pPr>
            <a:r>
              <a:rPr lang="en-US" sz="17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Excessive subdomains</a:t>
            </a:r>
          </a:p>
          <a:p>
            <a:pPr algn="l" marL="387585" indent="-193793" lvl="1">
              <a:lnSpc>
                <a:spcPts val="2513"/>
              </a:lnSpc>
              <a:spcBef>
                <a:spcPct val="0"/>
              </a:spcBef>
              <a:buAutoNum type="arabicPeriod" startAt="1"/>
            </a:pPr>
            <a:r>
              <a:rPr lang="en-US" sz="17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Suspicious TLDs (.tk, .ml, .xyz)</a:t>
            </a:r>
          </a:p>
          <a:p>
            <a:pPr algn="l" marL="387585" indent="-193793" lvl="1">
              <a:lnSpc>
                <a:spcPts val="2513"/>
              </a:lnSpc>
              <a:spcBef>
                <a:spcPct val="0"/>
              </a:spcBef>
              <a:buAutoNum type="arabicPeriod" startAt="1"/>
            </a:pPr>
            <a:r>
              <a:rPr lang="en-US" sz="17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Multiple hyphens in domain</a:t>
            </a:r>
          </a:p>
          <a:p>
            <a:pPr algn="l" marL="387585" indent="-193793" lvl="1">
              <a:lnSpc>
                <a:spcPts val="2513"/>
              </a:lnSpc>
              <a:spcBef>
                <a:spcPct val="0"/>
              </a:spcBef>
              <a:buAutoNum type="arabicPeriod" startAt="1"/>
            </a:pPr>
            <a:r>
              <a:rPr lang="en-US" sz="17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Suspicious keywords (login, verify, secure)</a:t>
            </a:r>
          </a:p>
          <a:p>
            <a:pPr algn="l" marL="387585" indent="-193793" lvl="1">
              <a:lnSpc>
                <a:spcPts val="2513"/>
              </a:lnSpc>
              <a:spcBef>
                <a:spcPct val="0"/>
              </a:spcBef>
              <a:buAutoNum type="arabicPeriod" startAt="1"/>
            </a:pPr>
            <a:r>
              <a:rPr lang="en-US" sz="17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Very long domain name</a:t>
            </a:r>
          </a:p>
          <a:p>
            <a:pPr algn="l" marL="387585" indent="-193793" lvl="1">
              <a:lnSpc>
                <a:spcPts val="2513"/>
              </a:lnSpc>
              <a:spcBef>
                <a:spcPct val="0"/>
              </a:spcBef>
              <a:buAutoNum type="arabicPeriod" startAt="1"/>
            </a:pPr>
            <a:r>
              <a:rPr lang="en-US" sz="17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Known phishing domain list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37017" y="1595339"/>
            <a:ext cx="1022283" cy="42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  <a:spcBef>
                <a:spcPct val="0"/>
              </a:spcBef>
            </a:pPr>
            <a:r>
              <a:rPr lang="en-US" b="true" sz="2446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06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1215797" y="-2529059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621192" y="4848803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783564" y="4383637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00950" y="4383637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744545" y="653249"/>
            <a:ext cx="532335" cy="500395"/>
          </a:xfrm>
          <a:custGeom>
            <a:avLst/>
            <a:gdLst/>
            <a:ahLst/>
            <a:cxnLst/>
            <a:rect r="r" b="b" t="t" l="l"/>
            <a:pathLst>
              <a:path h="500395" w="532335">
                <a:moveTo>
                  <a:pt x="0" y="0"/>
                </a:moveTo>
                <a:lnTo>
                  <a:pt x="532335" y="0"/>
                </a:lnTo>
                <a:lnTo>
                  <a:pt x="532335" y="500395"/>
                </a:lnTo>
                <a:lnTo>
                  <a:pt x="0" y="5003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3030107" y="4630180"/>
            <a:ext cx="2593015" cy="2593015"/>
            <a:chOff x="0" y="0"/>
            <a:chExt cx="14840029" cy="14840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C4459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223" t="0" r="223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7847493" y="4630180"/>
            <a:ext cx="2593015" cy="2593015"/>
            <a:chOff x="0" y="0"/>
            <a:chExt cx="14840029" cy="148400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C4459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223" t="0" r="223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668250" y="4383637"/>
            <a:ext cx="3086100" cy="308610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914793" y="4630180"/>
            <a:ext cx="2593015" cy="2593015"/>
            <a:chOff x="0" y="0"/>
            <a:chExt cx="14840029" cy="148400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C4459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223" t="0" r="223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5044440" y="1728850"/>
            <a:ext cx="9315032" cy="123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13"/>
              </a:lnSpc>
              <a:spcBef>
                <a:spcPct val="0"/>
              </a:spcBef>
            </a:pPr>
            <a:r>
              <a:rPr lang="en-US" b="true" sz="7223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RISK SCORING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88014" y="2813552"/>
            <a:ext cx="7730706" cy="123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13"/>
              </a:lnSpc>
              <a:spcBef>
                <a:spcPct val="0"/>
              </a:spcBef>
            </a:pPr>
            <a:r>
              <a:rPr lang="en-US" b="true" sz="7223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SYSTEM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82522" y="1239884"/>
            <a:ext cx="2256381" cy="37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61"/>
              </a:lnSpc>
              <a:spcBef>
                <a:spcPct val="0"/>
              </a:spcBef>
            </a:pPr>
            <a:r>
              <a:rPr lang="en-US" sz="2186">
                <a:solidFill>
                  <a:srgbClr val="E487C9"/>
                </a:solidFill>
                <a:latin typeface="RQND Pro"/>
                <a:ea typeface="RQND Pro"/>
                <a:cs typeface="RQND Pro"/>
                <a:sym typeface="RQND Pro"/>
              </a:rPr>
              <a:t>PHISHING TRACKER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87994" y="7657362"/>
            <a:ext cx="3081670" cy="41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5"/>
              </a:lnSpc>
              <a:spcBef>
                <a:spcPct val="0"/>
              </a:spcBef>
            </a:pPr>
            <a:r>
              <a:rPr lang="en-US" b="true" sz="2339">
                <a:solidFill>
                  <a:srgbClr val="E487C9"/>
                </a:solidFill>
                <a:latin typeface="Poppins Bold"/>
                <a:ea typeface="Poppins Bold"/>
                <a:cs typeface="Poppins Bold"/>
                <a:sym typeface="Poppins Bold"/>
              </a:rPr>
              <a:t>SAFE (0-25)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62204" y="8277122"/>
            <a:ext cx="3933250" cy="11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8"/>
              </a:lnSpc>
              <a:spcBef>
                <a:spcPct val="0"/>
              </a:spcBef>
            </a:pPr>
            <a:r>
              <a:rPr lang="en-US" sz="16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Low risk score indicates a trustworthy website. Green status means you can browse with confidence. No threats detected.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12532" y="7657362"/>
            <a:ext cx="3081670" cy="41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5"/>
              </a:lnSpc>
              <a:spcBef>
                <a:spcPct val="0"/>
              </a:spcBef>
            </a:pPr>
            <a:r>
              <a:rPr lang="en-US" b="true" sz="2339">
                <a:solidFill>
                  <a:srgbClr val="E487C9"/>
                </a:solidFill>
                <a:latin typeface="Poppins Bold"/>
                <a:ea typeface="Poppins Bold"/>
                <a:cs typeface="Poppins Bold"/>
                <a:sym typeface="Poppins Bold"/>
              </a:rPr>
              <a:t>SUSPICIOUS (26-55)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286742" y="8277122"/>
            <a:ext cx="3933250" cy="11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8"/>
              </a:lnSpc>
              <a:spcBef>
                <a:spcPct val="0"/>
              </a:spcBef>
            </a:pPr>
            <a:r>
              <a:rPr lang="en-US" sz="16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Medium risk score warrants caution. Orange status suggests potential red flags. Proceed carefully and verify the site's legitimacy.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07126" y="7657362"/>
            <a:ext cx="4408348" cy="41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5"/>
              </a:lnSpc>
              <a:spcBef>
                <a:spcPct val="0"/>
              </a:spcBef>
            </a:pPr>
            <a:r>
              <a:rPr lang="en-US" b="true" sz="2339">
                <a:solidFill>
                  <a:srgbClr val="E487C9"/>
                </a:solidFill>
                <a:latin typeface="Poppins Bold"/>
                <a:ea typeface="Poppins Bold"/>
                <a:cs typeface="Poppins Bold"/>
                <a:sym typeface="Poppins Bold"/>
              </a:rPr>
              <a:t>DANGEROUS (56-100)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44675" y="8277122"/>
            <a:ext cx="4170799" cy="11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8"/>
              </a:lnSpc>
              <a:spcBef>
                <a:spcPct val="0"/>
              </a:spcBef>
            </a:pPr>
            <a:r>
              <a:rPr lang="en-US" sz="16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 risk score indicates likely phishing attempt. Red status means immediate danger. Do not enter any personal information.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415474" y="1134963"/>
            <a:ext cx="1022283" cy="55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6"/>
              </a:lnSpc>
              <a:spcBef>
                <a:spcPct val="0"/>
              </a:spcBef>
            </a:pPr>
            <a:r>
              <a:rPr lang="en-US" b="true" sz="3225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783564" y="4383637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00950" y="4383637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744545" y="653249"/>
            <a:ext cx="532335" cy="500395"/>
          </a:xfrm>
          <a:custGeom>
            <a:avLst/>
            <a:gdLst/>
            <a:ahLst/>
            <a:cxnLst/>
            <a:rect r="r" b="b" t="t" l="l"/>
            <a:pathLst>
              <a:path h="500395" w="532335">
                <a:moveTo>
                  <a:pt x="0" y="0"/>
                </a:moveTo>
                <a:lnTo>
                  <a:pt x="532335" y="0"/>
                </a:lnTo>
                <a:lnTo>
                  <a:pt x="532335" y="500395"/>
                </a:lnTo>
                <a:lnTo>
                  <a:pt x="0" y="5003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3030107" y="4630180"/>
            <a:ext cx="2593015" cy="2593015"/>
            <a:chOff x="0" y="0"/>
            <a:chExt cx="14840029" cy="14840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C4459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223" t="0" r="223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7847493" y="4630180"/>
            <a:ext cx="2593015" cy="2593015"/>
            <a:chOff x="0" y="0"/>
            <a:chExt cx="14840029" cy="148400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C4459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223" t="0" r="223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668250" y="4383637"/>
            <a:ext cx="3086100" cy="308610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914793" y="4630180"/>
            <a:ext cx="2593015" cy="2593015"/>
            <a:chOff x="0" y="0"/>
            <a:chExt cx="14840029" cy="148400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C4459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223" t="0" r="223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5044440" y="1709800"/>
            <a:ext cx="9315032" cy="137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02"/>
              </a:lnSpc>
              <a:spcBef>
                <a:spcPct val="0"/>
              </a:spcBef>
            </a:pPr>
            <a:r>
              <a:rPr lang="en-US" b="true" sz="7930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KEY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88014" y="2794502"/>
            <a:ext cx="7730706" cy="137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02"/>
              </a:lnSpc>
              <a:spcBef>
                <a:spcPct val="0"/>
              </a:spcBef>
            </a:pPr>
            <a:r>
              <a:rPr lang="en-US" b="true" sz="7930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FEATURES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82522" y="1239884"/>
            <a:ext cx="2256381" cy="33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4"/>
              </a:lnSpc>
              <a:spcBef>
                <a:spcPct val="0"/>
              </a:spcBef>
            </a:pPr>
            <a:r>
              <a:rPr lang="en-US" sz="1881">
                <a:solidFill>
                  <a:srgbClr val="E487C9"/>
                </a:solidFill>
                <a:latin typeface="RQND Pro"/>
                <a:ea typeface="RQND Pro"/>
                <a:cs typeface="RQND Pro"/>
                <a:sym typeface="RQND Pro"/>
              </a:rPr>
              <a:t>PHISHING TRACKER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87994" y="7666887"/>
            <a:ext cx="3081670" cy="358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8"/>
              </a:lnSpc>
              <a:spcBef>
                <a:spcPct val="0"/>
              </a:spcBef>
            </a:pPr>
            <a:r>
              <a:rPr lang="en-US" b="true" sz="2012">
                <a:solidFill>
                  <a:srgbClr val="E487C9"/>
                </a:solidFill>
                <a:latin typeface="Poppins Bold"/>
                <a:ea typeface="Poppins Bold"/>
                <a:cs typeface="Poppins Bold"/>
                <a:sym typeface="Poppins Bold"/>
              </a:rPr>
              <a:t>🛡 Dual-layer Detection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62204" y="8277122"/>
            <a:ext cx="3933250" cy="11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8"/>
              </a:lnSpc>
              <a:spcBef>
                <a:spcPct val="0"/>
              </a:spcBef>
            </a:pPr>
            <a:r>
              <a:rPr lang="en-US" sz="16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Combines Google Safe Browsing API with our custom 9-rule heuristic engine for maximum protection against phishing threats.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12532" y="7666887"/>
            <a:ext cx="3081670" cy="358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8"/>
              </a:lnSpc>
              <a:spcBef>
                <a:spcPct val="0"/>
              </a:spcBef>
            </a:pPr>
            <a:r>
              <a:rPr lang="en-US" b="true" sz="2012">
                <a:solidFill>
                  <a:srgbClr val="E487C9"/>
                </a:solidFill>
                <a:latin typeface="Poppins Bold"/>
                <a:ea typeface="Poppins Bold"/>
                <a:cs typeface="Poppins Bold"/>
                <a:sym typeface="Poppins Bold"/>
              </a:rPr>
              <a:t>📊 Risk Score 0-100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286742" y="8277122"/>
            <a:ext cx="3933250" cy="11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8"/>
              </a:lnSpc>
              <a:spcBef>
                <a:spcPct val="0"/>
              </a:spcBef>
            </a:pPr>
            <a:r>
              <a:rPr lang="en-US" sz="16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 just safe or unsafe — get a nuanced risk assessment score that helps you make informed decisions about website trustworthiness.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07126" y="7666887"/>
            <a:ext cx="4408348" cy="358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8"/>
              </a:lnSpc>
              <a:spcBef>
                <a:spcPct val="0"/>
              </a:spcBef>
            </a:pPr>
            <a:r>
              <a:rPr lang="en-US" b="true" sz="2012">
                <a:solidFill>
                  <a:srgbClr val="E487C9"/>
                </a:solidFill>
                <a:latin typeface="Poppins Bold"/>
                <a:ea typeface="Poppins Bold"/>
                <a:cs typeface="Poppins Bold"/>
                <a:sym typeface="Poppins Bold"/>
              </a:rPr>
              <a:t>🔔 Real-time Alerts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44675" y="8277122"/>
            <a:ext cx="4170799" cy="11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8"/>
              </a:lnSpc>
              <a:spcBef>
                <a:spcPct val="0"/>
              </a:spcBef>
            </a:pPr>
            <a:r>
              <a:rPr lang="en-US" sz="16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Color-coded banners appear instantly on every page you visit — green for safe, orange for suspicious, red for dangerous.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415474" y="1134963"/>
            <a:ext cx="1022283" cy="60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7"/>
              </a:lnSpc>
              <a:spcBef>
                <a:spcPct val="0"/>
              </a:spcBef>
            </a:pPr>
            <a:r>
              <a:rPr lang="en-US" b="true" sz="3541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2521675">
            <a:off x="-2145225" y="6960043"/>
            <a:ext cx="10032200" cy="3229319"/>
          </a:xfrm>
          <a:custGeom>
            <a:avLst/>
            <a:gdLst/>
            <a:ahLst/>
            <a:cxnLst/>
            <a:rect r="r" b="b" t="t" l="l"/>
            <a:pathLst>
              <a:path h="3229319" w="10032200">
                <a:moveTo>
                  <a:pt x="0" y="0"/>
                </a:moveTo>
                <a:lnTo>
                  <a:pt x="10032200" y="0"/>
                </a:lnTo>
                <a:lnTo>
                  <a:pt x="10032200" y="3229319"/>
                </a:lnTo>
                <a:lnTo>
                  <a:pt x="0" y="3229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521675">
            <a:off x="11525853" y="-142301"/>
            <a:ext cx="10032200" cy="3229319"/>
          </a:xfrm>
          <a:custGeom>
            <a:avLst/>
            <a:gdLst/>
            <a:ahLst/>
            <a:cxnLst/>
            <a:rect r="r" b="b" t="t" l="l"/>
            <a:pathLst>
              <a:path h="3229319" w="10032200">
                <a:moveTo>
                  <a:pt x="0" y="0"/>
                </a:moveTo>
                <a:lnTo>
                  <a:pt x="10032200" y="0"/>
                </a:lnTo>
                <a:lnTo>
                  <a:pt x="10032200" y="3229319"/>
                </a:lnTo>
                <a:lnTo>
                  <a:pt x="0" y="3229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13879" y="1306001"/>
            <a:ext cx="4359705" cy="8155911"/>
          </a:xfrm>
          <a:custGeom>
            <a:avLst/>
            <a:gdLst/>
            <a:ahLst/>
            <a:cxnLst/>
            <a:rect r="r" b="b" t="t" l="l"/>
            <a:pathLst>
              <a:path h="8155911" w="4359705">
                <a:moveTo>
                  <a:pt x="0" y="0"/>
                </a:moveTo>
                <a:lnTo>
                  <a:pt x="4359705" y="0"/>
                </a:lnTo>
                <a:lnTo>
                  <a:pt x="4359705" y="8155911"/>
                </a:lnTo>
                <a:lnTo>
                  <a:pt x="0" y="81559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2166555" y="1880266"/>
            <a:ext cx="3654353" cy="7581645"/>
            <a:chOff x="0" y="0"/>
            <a:chExt cx="9182100" cy="190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95859" y="240665"/>
              <a:ext cx="8381619" cy="18062447"/>
            </a:xfrm>
            <a:custGeom>
              <a:avLst/>
              <a:gdLst/>
              <a:ahLst/>
              <a:cxnLst/>
              <a:rect r="r" b="b" t="t" l="l"/>
              <a:pathLst>
                <a:path h="18062447" w="8381619">
                  <a:moveTo>
                    <a:pt x="7301738" y="18062447"/>
                  </a:moveTo>
                  <a:lnTo>
                    <a:pt x="1080008" y="18062447"/>
                  </a:lnTo>
                  <a:cubicBezTo>
                    <a:pt x="483489" y="18062447"/>
                    <a:pt x="0" y="17578832"/>
                    <a:pt x="0" y="16982439"/>
                  </a:cubicBezTo>
                  <a:lnTo>
                    <a:pt x="0" y="1082675"/>
                  </a:lnTo>
                  <a:cubicBezTo>
                    <a:pt x="0" y="484759"/>
                    <a:pt x="484759" y="0"/>
                    <a:pt x="1082675" y="0"/>
                  </a:cubicBezTo>
                  <a:lnTo>
                    <a:pt x="7299071" y="0"/>
                  </a:lnTo>
                  <a:cubicBezTo>
                    <a:pt x="7896988" y="0"/>
                    <a:pt x="8381619" y="484759"/>
                    <a:pt x="8381619" y="1082548"/>
                  </a:cubicBezTo>
                  <a:lnTo>
                    <a:pt x="8381619" y="16982439"/>
                  </a:lnTo>
                  <a:cubicBezTo>
                    <a:pt x="8381873" y="17578959"/>
                    <a:pt x="7898384" y="18062447"/>
                    <a:pt x="7301738" y="18062447"/>
                  </a:cubicBezTo>
                  <a:close/>
                </a:path>
              </a:pathLst>
            </a:custGeom>
            <a:blipFill>
              <a:blip r:embed="rId7"/>
              <a:stretch>
                <a:fillRect l="-11417" t="0" r="-1141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821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182100">
                  <a:moveTo>
                    <a:pt x="9182100" y="0"/>
                  </a:moveTo>
                  <a:lnTo>
                    <a:pt x="9182100" y="19050000"/>
                  </a:lnTo>
                  <a:lnTo>
                    <a:pt x="0" y="19050000"/>
                  </a:lnTo>
                  <a:lnTo>
                    <a:pt x="0" y="0"/>
                  </a:lnTo>
                  <a:lnTo>
                    <a:pt x="9182100" y="0"/>
                  </a:lnTo>
                  <a:close/>
                </a:path>
              </a:pathLst>
            </a:custGeom>
            <a:blipFill>
              <a:blip r:embed="rId8"/>
              <a:stretch>
                <a:fillRect l="0" t="-208" r="0" b="-208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2521675">
            <a:off x="-3649571" y="6744248"/>
            <a:ext cx="10032200" cy="3229319"/>
          </a:xfrm>
          <a:custGeom>
            <a:avLst/>
            <a:gdLst/>
            <a:ahLst/>
            <a:cxnLst/>
            <a:rect r="r" b="b" t="t" l="l"/>
            <a:pathLst>
              <a:path h="3229319" w="10032200">
                <a:moveTo>
                  <a:pt x="0" y="0"/>
                </a:moveTo>
                <a:lnTo>
                  <a:pt x="10032200" y="0"/>
                </a:lnTo>
                <a:lnTo>
                  <a:pt x="10032200" y="3229319"/>
                </a:lnTo>
                <a:lnTo>
                  <a:pt x="0" y="3229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864942" y="1190638"/>
            <a:ext cx="532335" cy="500395"/>
          </a:xfrm>
          <a:custGeom>
            <a:avLst/>
            <a:gdLst/>
            <a:ahLst/>
            <a:cxnLst/>
            <a:rect r="r" b="b" t="t" l="l"/>
            <a:pathLst>
              <a:path h="500395" w="532335">
                <a:moveTo>
                  <a:pt x="0" y="0"/>
                </a:moveTo>
                <a:lnTo>
                  <a:pt x="532335" y="0"/>
                </a:lnTo>
                <a:lnTo>
                  <a:pt x="532335" y="500395"/>
                </a:lnTo>
                <a:lnTo>
                  <a:pt x="0" y="5003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12107" y="5240204"/>
            <a:ext cx="3639144" cy="3639144"/>
          </a:xfrm>
          <a:custGeom>
            <a:avLst/>
            <a:gdLst/>
            <a:ahLst/>
            <a:cxnLst/>
            <a:rect r="r" b="b" t="t" l="l"/>
            <a:pathLst>
              <a:path h="3639144" w="3639144">
                <a:moveTo>
                  <a:pt x="0" y="0"/>
                </a:moveTo>
                <a:lnTo>
                  <a:pt x="3639144" y="0"/>
                </a:lnTo>
                <a:lnTo>
                  <a:pt x="3639144" y="3639144"/>
                </a:lnTo>
                <a:lnTo>
                  <a:pt x="0" y="36391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002919" y="1786797"/>
            <a:ext cx="2256381" cy="233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4"/>
              </a:lnSpc>
              <a:spcBef>
                <a:spcPct val="0"/>
              </a:spcBef>
            </a:pPr>
            <a:r>
              <a:rPr lang="en-US" sz="1296">
                <a:solidFill>
                  <a:srgbClr val="E487C9"/>
                </a:solidFill>
                <a:latin typeface="RQND Pro"/>
                <a:ea typeface="RQND Pro"/>
                <a:cs typeface="RQND Pro"/>
                <a:sym typeface="RQND Pro"/>
              </a:rPr>
              <a:t>PHISHING TRACKER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90192" y="2239421"/>
            <a:ext cx="9315032" cy="72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26"/>
              </a:lnSpc>
              <a:spcBef>
                <a:spcPct val="0"/>
              </a:spcBef>
            </a:pPr>
            <a:r>
              <a:rPr lang="en-US" b="true" sz="4233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LIVE DEMO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90192" y="3441677"/>
            <a:ext cx="6874243" cy="72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26"/>
              </a:lnSpc>
              <a:spcBef>
                <a:spcPct val="0"/>
              </a:spcBef>
            </a:pPr>
            <a:r>
              <a:rPr lang="en-US" b="true" sz="4233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SEE IT IN ACTION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945031" y="5153644"/>
            <a:ext cx="3723067" cy="3616029"/>
          </a:xfrm>
          <a:custGeom>
            <a:avLst/>
            <a:gdLst/>
            <a:ahLst/>
            <a:cxnLst/>
            <a:rect r="r" b="b" t="t" l="l"/>
            <a:pathLst>
              <a:path h="3616029" w="3723067">
                <a:moveTo>
                  <a:pt x="0" y="0"/>
                </a:moveTo>
                <a:lnTo>
                  <a:pt x="3723067" y="0"/>
                </a:lnTo>
                <a:lnTo>
                  <a:pt x="3723067" y="3616029"/>
                </a:lnTo>
                <a:lnTo>
                  <a:pt x="0" y="361602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818959" y="6438377"/>
            <a:ext cx="528749" cy="546956"/>
          </a:xfrm>
          <a:custGeom>
            <a:avLst/>
            <a:gdLst/>
            <a:ahLst/>
            <a:cxnLst/>
            <a:rect r="r" b="b" t="t" l="l"/>
            <a:pathLst>
              <a:path h="546956" w="528749">
                <a:moveTo>
                  <a:pt x="0" y="0"/>
                </a:moveTo>
                <a:lnTo>
                  <a:pt x="528749" y="0"/>
                </a:lnTo>
                <a:lnTo>
                  <a:pt x="528749" y="546956"/>
                </a:lnTo>
                <a:lnTo>
                  <a:pt x="0" y="5469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358856" y="6448615"/>
            <a:ext cx="2513626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Green banner displayed on legitimate websites confirming security status.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07586" y="5795876"/>
            <a:ext cx="2016166" cy="24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45"/>
              </a:lnSpc>
              <a:spcBef>
                <a:spcPct val="0"/>
              </a:spcBef>
            </a:pPr>
            <a:r>
              <a:rPr lang="en-US" b="true" sz="1389">
                <a:solidFill>
                  <a:srgbClr val="F294FF"/>
                </a:solidFill>
                <a:latin typeface="HK Modular"/>
                <a:ea typeface="HK Modular"/>
                <a:cs typeface="HK Modular"/>
                <a:sym typeface="HK Modular"/>
              </a:rPr>
              <a:t>SAFE SITE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93205" y="6384195"/>
            <a:ext cx="2815907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 danger banner instantly warns users when visiting detected phishing websites.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49571" y="5731456"/>
            <a:ext cx="2503175" cy="24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45"/>
              </a:lnSpc>
              <a:spcBef>
                <a:spcPct val="0"/>
              </a:spcBef>
            </a:pPr>
            <a:r>
              <a:rPr lang="en-US" b="true" sz="1389">
                <a:solidFill>
                  <a:srgbClr val="F294FF"/>
                </a:solidFill>
                <a:latin typeface="HK Modular"/>
                <a:ea typeface="HK Modular"/>
                <a:cs typeface="HK Modular"/>
                <a:sym typeface="HK Modular"/>
              </a:rPr>
              <a:t>PHISHING ALERT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48158" y="8041962"/>
            <a:ext cx="1022283" cy="33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6"/>
              </a:lnSpc>
              <a:spcBef>
                <a:spcPct val="0"/>
              </a:spcBef>
            </a:pPr>
            <a:r>
              <a:rPr lang="en-US" b="true" sz="1890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830834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744529" y="564508"/>
            <a:ext cx="532639" cy="707089"/>
          </a:xfrm>
          <a:custGeom>
            <a:avLst/>
            <a:gdLst/>
            <a:ahLst/>
            <a:cxnLst/>
            <a:rect r="r" b="b" t="t" l="l"/>
            <a:pathLst>
              <a:path h="707089" w="532639">
                <a:moveTo>
                  <a:pt x="0" y="0"/>
                </a:moveTo>
                <a:lnTo>
                  <a:pt x="532639" y="0"/>
                </a:lnTo>
                <a:lnTo>
                  <a:pt x="532639" y="707089"/>
                </a:lnTo>
                <a:lnTo>
                  <a:pt x="0" y="707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2749605" y="3598206"/>
            <a:ext cx="4737224" cy="5152812"/>
            <a:chOff x="0" y="0"/>
            <a:chExt cx="1361246" cy="14806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1246" cy="1480665"/>
            </a:xfrm>
            <a:custGeom>
              <a:avLst/>
              <a:gdLst/>
              <a:ahLst/>
              <a:cxnLst/>
              <a:rect r="r" b="b" t="t" l="l"/>
              <a:pathLst>
                <a:path h="1480665" w="1361246">
                  <a:moveTo>
                    <a:pt x="47394" y="0"/>
                  </a:moveTo>
                  <a:lnTo>
                    <a:pt x="1313852" y="0"/>
                  </a:lnTo>
                  <a:cubicBezTo>
                    <a:pt x="1340027" y="0"/>
                    <a:pt x="1361246" y="21219"/>
                    <a:pt x="1361246" y="47394"/>
                  </a:cubicBezTo>
                  <a:lnTo>
                    <a:pt x="1361246" y="1433272"/>
                  </a:lnTo>
                  <a:cubicBezTo>
                    <a:pt x="1361246" y="1445841"/>
                    <a:pt x="1356252" y="1457896"/>
                    <a:pt x="1347364" y="1466784"/>
                  </a:cubicBezTo>
                  <a:cubicBezTo>
                    <a:pt x="1338476" y="1475672"/>
                    <a:pt x="1326422" y="1480665"/>
                    <a:pt x="1313852" y="1480665"/>
                  </a:cubicBezTo>
                  <a:lnTo>
                    <a:pt x="47394" y="1480665"/>
                  </a:lnTo>
                  <a:cubicBezTo>
                    <a:pt x="21219" y="1480665"/>
                    <a:pt x="0" y="1459446"/>
                    <a:pt x="0" y="1433272"/>
                  </a:cubicBezTo>
                  <a:lnTo>
                    <a:pt x="0" y="47394"/>
                  </a:lnTo>
                  <a:cubicBezTo>
                    <a:pt x="0" y="21219"/>
                    <a:pt x="21219" y="0"/>
                    <a:pt x="473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61246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6744604" y="4323802"/>
            <a:ext cx="4306244" cy="5152812"/>
            <a:chOff x="0" y="0"/>
            <a:chExt cx="1237403" cy="14806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7403" cy="1480665"/>
            </a:xfrm>
            <a:custGeom>
              <a:avLst/>
              <a:gdLst/>
              <a:ahLst/>
              <a:cxnLst/>
              <a:rect r="r" b="b" t="t" l="l"/>
              <a:pathLst>
                <a:path h="1480665" w="1237403">
                  <a:moveTo>
                    <a:pt x="52137" y="0"/>
                  </a:moveTo>
                  <a:lnTo>
                    <a:pt x="1185266" y="0"/>
                  </a:lnTo>
                  <a:cubicBezTo>
                    <a:pt x="1199094" y="0"/>
                    <a:pt x="1212355" y="5493"/>
                    <a:pt x="1222133" y="15271"/>
                  </a:cubicBezTo>
                  <a:cubicBezTo>
                    <a:pt x="1231910" y="25048"/>
                    <a:pt x="1237403" y="38310"/>
                    <a:pt x="1237403" y="52137"/>
                  </a:cubicBezTo>
                  <a:lnTo>
                    <a:pt x="1237403" y="1428528"/>
                  </a:lnTo>
                  <a:cubicBezTo>
                    <a:pt x="1237403" y="1442356"/>
                    <a:pt x="1231910" y="1455617"/>
                    <a:pt x="1222133" y="1465395"/>
                  </a:cubicBezTo>
                  <a:cubicBezTo>
                    <a:pt x="1212355" y="1475172"/>
                    <a:pt x="1199094" y="1480665"/>
                    <a:pt x="1185266" y="1480665"/>
                  </a:cubicBezTo>
                  <a:lnTo>
                    <a:pt x="52137" y="1480665"/>
                  </a:lnTo>
                  <a:cubicBezTo>
                    <a:pt x="38310" y="1480665"/>
                    <a:pt x="25048" y="1475172"/>
                    <a:pt x="15271" y="1465395"/>
                  </a:cubicBezTo>
                  <a:cubicBezTo>
                    <a:pt x="5493" y="1455617"/>
                    <a:pt x="0" y="1442356"/>
                    <a:pt x="0" y="1428528"/>
                  </a:cubicBezTo>
                  <a:lnTo>
                    <a:pt x="0" y="52137"/>
                  </a:lnTo>
                  <a:cubicBezTo>
                    <a:pt x="0" y="38310"/>
                    <a:pt x="5493" y="25048"/>
                    <a:pt x="15271" y="15271"/>
                  </a:cubicBezTo>
                  <a:cubicBezTo>
                    <a:pt x="25048" y="5493"/>
                    <a:pt x="38310" y="0"/>
                    <a:pt x="521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37403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10883778" y="3464005"/>
            <a:ext cx="4306244" cy="5152812"/>
            <a:chOff x="0" y="0"/>
            <a:chExt cx="1237403" cy="148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37403" cy="1480665"/>
            </a:xfrm>
            <a:custGeom>
              <a:avLst/>
              <a:gdLst/>
              <a:ahLst/>
              <a:cxnLst/>
              <a:rect r="r" b="b" t="t" l="l"/>
              <a:pathLst>
                <a:path h="1480665" w="1237403">
                  <a:moveTo>
                    <a:pt x="52137" y="0"/>
                  </a:moveTo>
                  <a:lnTo>
                    <a:pt x="1185266" y="0"/>
                  </a:lnTo>
                  <a:cubicBezTo>
                    <a:pt x="1199094" y="0"/>
                    <a:pt x="1212355" y="5493"/>
                    <a:pt x="1222133" y="15271"/>
                  </a:cubicBezTo>
                  <a:cubicBezTo>
                    <a:pt x="1231910" y="25048"/>
                    <a:pt x="1237403" y="38310"/>
                    <a:pt x="1237403" y="52137"/>
                  </a:cubicBezTo>
                  <a:lnTo>
                    <a:pt x="1237403" y="1428528"/>
                  </a:lnTo>
                  <a:cubicBezTo>
                    <a:pt x="1237403" y="1442356"/>
                    <a:pt x="1231910" y="1455617"/>
                    <a:pt x="1222133" y="1465395"/>
                  </a:cubicBezTo>
                  <a:cubicBezTo>
                    <a:pt x="1212355" y="1475172"/>
                    <a:pt x="1199094" y="1480665"/>
                    <a:pt x="1185266" y="1480665"/>
                  </a:cubicBezTo>
                  <a:lnTo>
                    <a:pt x="52137" y="1480665"/>
                  </a:lnTo>
                  <a:cubicBezTo>
                    <a:pt x="38310" y="1480665"/>
                    <a:pt x="25048" y="1475172"/>
                    <a:pt x="15271" y="1465395"/>
                  </a:cubicBezTo>
                  <a:cubicBezTo>
                    <a:pt x="5493" y="1455617"/>
                    <a:pt x="0" y="1442356"/>
                    <a:pt x="0" y="1428528"/>
                  </a:cubicBezTo>
                  <a:lnTo>
                    <a:pt x="0" y="52137"/>
                  </a:lnTo>
                  <a:cubicBezTo>
                    <a:pt x="0" y="38310"/>
                    <a:pt x="5493" y="25048"/>
                    <a:pt x="15271" y="15271"/>
                  </a:cubicBezTo>
                  <a:cubicBezTo>
                    <a:pt x="25048" y="5493"/>
                    <a:pt x="38310" y="0"/>
                    <a:pt x="521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37403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512223" y="1287509"/>
            <a:ext cx="3879582" cy="1301774"/>
            <a:chOff x="0" y="0"/>
            <a:chExt cx="2119537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9537" cy="711200"/>
            </a:xfrm>
            <a:custGeom>
              <a:avLst/>
              <a:gdLst/>
              <a:ahLst/>
              <a:cxnLst/>
              <a:rect r="r" b="b" t="t" l="l"/>
              <a:pathLst>
                <a:path h="711200" w="2119537">
                  <a:moveTo>
                    <a:pt x="1814847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5871"/>
                  </a:cubicBezTo>
                  <a:cubicBezTo>
                    <a:pt x="0" y="386169"/>
                    <a:pt x="66279" y="481310"/>
                    <a:pt x="162037" y="525451"/>
                  </a:cubicBezTo>
                  <a:lnTo>
                    <a:pt x="162037" y="711200"/>
                  </a:lnTo>
                  <a:lnTo>
                    <a:pt x="353844" y="551732"/>
                  </a:lnTo>
                  <a:lnTo>
                    <a:pt x="1814847" y="551732"/>
                  </a:lnTo>
                  <a:cubicBezTo>
                    <a:pt x="1993099" y="551732"/>
                    <a:pt x="2119537" y="428220"/>
                    <a:pt x="2119537" y="275861"/>
                  </a:cubicBezTo>
                  <a:cubicBezTo>
                    <a:pt x="2119548" y="123512"/>
                    <a:pt x="1993099" y="0"/>
                    <a:pt x="18148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19537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65701" y="4137838"/>
            <a:ext cx="1143595" cy="114359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4F4F4">
                    <a:alpha val="100000"/>
                  </a:srgbClr>
                </a:gs>
                <a:gs pos="100000">
                  <a:srgbClr val="919191">
                    <a:alpha val="345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882522" y="1239884"/>
            <a:ext cx="2256381" cy="38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2"/>
              </a:lnSpc>
              <a:spcBef>
                <a:spcPct val="0"/>
              </a:spcBef>
            </a:pPr>
            <a:r>
              <a:rPr lang="en-US" sz="2237">
                <a:solidFill>
                  <a:srgbClr val="E487C9"/>
                </a:solidFill>
                <a:latin typeface="RQND Pro"/>
                <a:ea typeface="RQND Pro"/>
                <a:cs typeface="RQND Pro"/>
                <a:sym typeface="RQND Pro"/>
              </a:rPr>
              <a:t>PHISHING TRACKER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487047"/>
            <a:ext cx="5208013" cy="71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73"/>
              </a:lnSpc>
            </a:pPr>
            <a:r>
              <a:rPr lang="en-US" b="true" sz="4763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FUTURE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28303" y="1533113"/>
            <a:ext cx="2840526" cy="516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ROADMAP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2201321"/>
            <a:ext cx="5208013" cy="71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73"/>
              </a:lnSpc>
            </a:pPr>
            <a:r>
              <a:rPr lang="en-US" b="true" sz="4763">
                <a:solidFill>
                  <a:srgbClr val="FFEBE3"/>
                </a:solidFill>
                <a:latin typeface="HK Modular"/>
                <a:ea typeface="HK Modular"/>
                <a:cs typeface="HK Modular"/>
                <a:sym typeface="HK Modular"/>
              </a:rPr>
              <a:t>SCOPE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042890" y="3868018"/>
            <a:ext cx="1143595" cy="114359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4F4F4">
                    <a:alpha val="100000"/>
                  </a:srgbClr>
                </a:gs>
                <a:gs pos="100000">
                  <a:srgbClr val="919191">
                    <a:alpha val="515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479050" y="4137838"/>
            <a:ext cx="1143595" cy="114359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4F4F4">
                    <a:alpha val="100000"/>
                  </a:srgbClr>
                </a:gs>
                <a:gs pos="100000">
                  <a:srgbClr val="919191">
                    <a:alpha val="345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474584" y="4131433"/>
            <a:ext cx="925828" cy="88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31"/>
              </a:lnSpc>
              <a:spcBef>
                <a:spcPct val="0"/>
              </a:spcBef>
            </a:pPr>
            <a:r>
              <a:rPr lang="en-US" sz="5093">
                <a:solidFill>
                  <a:srgbClr val="3D042D"/>
                </a:solidFill>
                <a:latin typeface="RQND Pro"/>
                <a:ea typeface="RQND Pro"/>
                <a:cs typeface="RQND Pro"/>
                <a:sym typeface="RQND Pro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51774" y="3881016"/>
            <a:ext cx="925828" cy="88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31"/>
              </a:lnSpc>
              <a:spcBef>
                <a:spcPct val="0"/>
              </a:spcBef>
            </a:pPr>
            <a:r>
              <a:rPr lang="en-US" sz="5093">
                <a:solidFill>
                  <a:srgbClr val="3D042D"/>
                </a:solidFill>
                <a:latin typeface="RQND Pro"/>
                <a:ea typeface="RQND Pro"/>
                <a:cs typeface="RQND Pro"/>
                <a:sym typeface="RQND Pro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87934" y="4131433"/>
            <a:ext cx="925828" cy="88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31"/>
              </a:lnSpc>
              <a:spcBef>
                <a:spcPct val="0"/>
              </a:spcBef>
            </a:pPr>
            <a:r>
              <a:rPr lang="en-US" sz="5093">
                <a:solidFill>
                  <a:srgbClr val="3D042D"/>
                </a:solidFill>
                <a:latin typeface="RQND Pro"/>
                <a:ea typeface="RQND Pro"/>
                <a:cs typeface="RQND Pro"/>
                <a:sym typeface="RQND Pro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688049" y="4355846"/>
            <a:ext cx="2309174" cy="72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4"/>
              </a:lnSpc>
            </a:pPr>
            <a:r>
              <a:rPr lang="en-US" b="true" sz="239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API Key Management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58242" y="5252758"/>
            <a:ext cx="2309174" cy="72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24"/>
              </a:lnSpc>
            </a:pPr>
            <a:r>
              <a:rPr lang="en-US" b="true" sz="239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ML Phishing Model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022695" y="4217158"/>
            <a:ext cx="2309174" cy="72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4"/>
              </a:lnSpc>
            </a:pPr>
            <a:r>
              <a:rPr lang="en-US" b="true" sz="239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Community Database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369521" y="8871298"/>
            <a:ext cx="1022283" cy="60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7"/>
              </a:lnSpc>
              <a:spcBef>
                <a:spcPct val="0"/>
              </a:spcBef>
            </a:pPr>
            <a:r>
              <a:rPr lang="en-US" b="true" sz="3541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10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632706" y="5421304"/>
            <a:ext cx="2704915" cy="236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4"/>
              </a:lnSpc>
              <a:spcBef>
                <a:spcPct val="0"/>
              </a:spcBef>
            </a:pPr>
            <a:r>
              <a:rPr lang="en-US" sz="19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 secure server-side API key storage and rotation to enhance security and prevent key exposure in client-side code.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58242" y="6323258"/>
            <a:ext cx="2880661" cy="236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4"/>
              </a:lnSpc>
              <a:spcBef>
                <a:spcPct val="0"/>
              </a:spcBef>
            </a:pPr>
            <a:r>
              <a:rPr lang="en-US" sz="19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 and deploy machine learning models for advanced phishing detection, improving accuracy beyond rule-based heuristics.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74772" y="5233809"/>
            <a:ext cx="2880661" cy="202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4"/>
              </a:lnSpc>
              <a:spcBef>
                <a:spcPct val="0"/>
              </a:spcBef>
            </a:pPr>
            <a:r>
              <a:rPr lang="en-US" sz="19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a crowdsourced phishing report database allowing users to flag threats, plus expand to Firefox and Safari browsers.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765520" y="621986"/>
            <a:ext cx="490091" cy="586068"/>
          </a:xfrm>
          <a:custGeom>
            <a:avLst/>
            <a:gdLst/>
            <a:ahLst/>
            <a:cxnLst/>
            <a:rect r="r" b="b" t="t" l="l"/>
            <a:pathLst>
              <a:path h="586068" w="490091">
                <a:moveTo>
                  <a:pt x="0" y="0"/>
                </a:moveTo>
                <a:lnTo>
                  <a:pt x="490091" y="0"/>
                </a:lnTo>
                <a:lnTo>
                  <a:pt x="490091" y="586068"/>
                </a:lnTo>
                <a:lnTo>
                  <a:pt x="0" y="586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82522" y="1239884"/>
            <a:ext cx="2256381" cy="41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E487C9"/>
                </a:solidFill>
                <a:latin typeface="RQND Pro"/>
                <a:ea typeface="RQND Pro"/>
                <a:cs typeface="RQND Pro"/>
                <a:sym typeface="RQND Pro"/>
              </a:rPr>
              <a:t>PHISHING TRACKER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93537" y="1939895"/>
            <a:ext cx="7100927" cy="121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66"/>
              </a:lnSpc>
              <a:spcBef>
                <a:spcPct val="0"/>
              </a:spcBef>
            </a:pPr>
            <a:r>
              <a:rPr lang="en-US" b="true" sz="7118">
                <a:solidFill>
                  <a:srgbClr val="E487C9"/>
                </a:solidFill>
                <a:latin typeface="HK Modular"/>
                <a:ea typeface="HK Modular"/>
                <a:cs typeface="HK Modular"/>
                <a:sym typeface="HK Modular"/>
              </a:rPr>
              <a:t>THANK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94030" y="2913641"/>
            <a:ext cx="4833367" cy="121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66"/>
              </a:lnSpc>
              <a:spcBef>
                <a:spcPct val="0"/>
              </a:spcBef>
            </a:pPr>
            <a:r>
              <a:rPr lang="en-US" b="true" sz="7118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10680" y="4483969"/>
            <a:ext cx="10800065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Stay Safe. Stay Smart.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9571" y="8542255"/>
            <a:ext cx="1022283" cy="60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b="true" sz="3541">
                <a:solidFill>
                  <a:srgbClr val="E487C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11</a:t>
            </a:r>
          </a:p>
        </p:txBody>
      </p:sp>
      <p:grpSp>
        <p:nvGrpSpPr>
          <p:cNvPr name="Group 12" id="12"/>
          <p:cNvGrpSpPr/>
          <p:nvPr/>
        </p:nvGrpSpPr>
        <p:grpSpPr>
          <a:xfrm rot="-5400000">
            <a:off x="11902700" y="3480209"/>
            <a:ext cx="15194133" cy="5621902"/>
            <a:chOff x="0" y="0"/>
            <a:chExt cx="4001747" cy="148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-8569184" y="2951838"/>
            <a:ext cx="15194133" cy="5621902"/>
            <a:chOff x="0" y="0"/>
            <a:chExt cx="4001747" cy="14806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D630C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DAHGXvENRHA</dc:identifier>
  <dcterms:modified xsi:type="dcterms:W3CDTF">2011-08-01T06:04:30Z</dcterms:modified>
  <cp:revision>1</cp:revision>
  <dc:title>Phishing Tracker: Real-time AI Chrome Extension</dc:title>
</cp:coreProperties>
</file>